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95" d="100"/>
          <a:sy n="95" d="100"/>
        </p:scale>
        <p:origin x="-516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70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06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81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4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402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208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38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97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35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72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112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07884-3017-4749-87DF-4151DDD212E9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8F657-ADD6-4E3A-B55A-07417E90F9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02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tângulo 214"/>
          <p:cNvSpPr/>
          <p:nvPr/>
        </p:nvSpPr>
        <p:spPr>
          <a:xfrm rot="16200000">
            <a:off x="-1045233" y="1412326"/>
            <a:ext cx="2878620" cy="3845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mtClean="0"/>
              <a:t>Negociação</a:t>
            </a:r>
            <a:endParaRPr lang="pt-BR"/>
          </a:p>
        </p:txBody>
      </p:sp>
      <p:sp>
        <p:nvSpPr>
          <p:cNvPr id="216" name="Retângulo 215"/>
          <p:cNvSpPr/>
          <p:nvPr/>
        </p:nvSpPr>
        <p:spPr>
          <a:xfrm rot="16200000">
            <a:off x="-1047069" y="4829559"/>
            <a:ext cx="2878620" cy="3845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mtClean="0"/>
              <a:t>Tramitação</a:t>
            </a:r>
            <a:endParaRPr lang="pt-BR"/>
          </a:p>
        </p:txBody>
      </p:sp>
      <p:grpSp>
        <p:nvGrpSpPr>
          <p:cNvPr id="7" name="Grupo 6"/>
          <p:cNvGrpSpPr/>
          <p:nvPr/>
        </p:nvGrpSpPr>
        <p:grpSpPr>
          <a:xfrm>
            <a:off x="783868" y="476751"/>
            <a:ext cx="1194955" cy="966357"/>
            <a:chOff x="332510" y="290944"/>
            <a:chExt cx="1194955" cy="966357"/>
          </a:xfrm>
        </p:grpSpPr>
        <p:sp>
          <p:nvSpPr>
            <p:cNvPr id="4" name="Retângulo 3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smtClean="0"/>
                <a:t>Preencher SO, verficar alçada e se há quebras</a:t>
              </a:r>
            </a:p>
          </p:txBody>
        </p:sp>
        <p:sp>
          <p:nvSpPr>
            <p:cNvPr id="6" name="Retângulo 5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794849" y="1715919"/>
            <a:ext cx="1194955" cy="966357"/>
            <a:chOff x="332510" y="290944"/>
            <a:chExt cx="1194955" cy="966357"/>
          </a:xfrm>
        </p:grpSpPr>
        <p:sp>
          <p:nvSpPr>
            <p:cNvPr id="9" name="Retângulo 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Faz download do SO, efetua a quebra e anexa a máscara (eform)</a:t>
              </a: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ADM de Vendas</a:t>
              </a:r>
              <a:endParaRPr lang="pt-BR" sz="1000" b="1"/>
            </a:p>
          </p:txBody>
        </p:sp>
      </p:grpSp>
      <p:sp>
        <p:nvSpPr>
          <p:cNvPr id="12" name="Fluxograma: Decisão 11"/>
          <p:cNvSpPr/>
          <p:nvPr/>
        </p:nvSpPr>
        <p:spPr>
          <a:xfrm>
            <a:off x="2191126" y="703275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Tem quebra?</a:t>
            </a:r>
            <a:endParaRPr lang="pt-BR" sz="800"/>
          </a:p>
        </p:txBody>
      </p:sp>
      <p:sp>
        <p:nvSpPr>
          <p:cNvPr id="13" name="Fluxograma: Decisão 12"/>
          <p:cNvSpPr/>
          <p:nvPr/>
        </p:nvSpPr>
        <p:spPr>
          <a:xfrm>
            <a:off x="3649748" y="708015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Qual a alçada?</a:t>
            </a:r>
            <a:endParaRPr lang="pt-BR" sz="800"/>
          </a:p>
        </p:txBody>
      </p:sp>
      <p:cxnSp>
        <p:nvCxnSpPr>
          <p:cNvPr id="20" name="Conector de seta reta 19"/>
          <p:cNvCxnSpPr>
            <a:stCxn id="4" idx="3"/>
            <a:endCxn id="12" idx="1"/>
          </p:cNvCxnSpPr>
          <p:nvPr/>
        </p:nvCxnSpPr>
        <p:spPr>
          <a:xfrm flipV="1">
            <a:off x="1978823" y="1072153"/>
            <a:ext cx="212303" cy="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2" idx="3"/>
            <a:endCxn id="13" idx="1"/>
          </p:cNvCxnSpPr>
          <p:nvPr/>
        </p:nvCxnSpPr>
        <p:spPr>
          <a:xfrm>
            <a:off x="3448426" y="1072153"/>
            <a:ext cx="201322" cy="4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2820914" y="1437363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Sim</a:t>
            </a:r>
            <a:endParaRPr lang="pt-BR" sz="800"/>
          </a:p>
        </p:txBody>
      </p:sp>
      <p:sp>
        <p:nvSpPr>
          <p:cNvPr id="31" name="CaixaDeTexto 30"/>
          <p:cNvSpPr txBox="1"/>
          <p:nvPr/>
        </p:nvSpPr>
        <p:spPr>
          <a:xfrm>
            <a:off x="3375689" y="829525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Não</a:t>
            </a:r>
            <a:endParaRPr lang="pt-BR" sz="800"/>
          </a:p>
        </p:txBody>
      </p:sp>
      <p:grpSp>
        <p:nvGrpSpPr>
          <p:cNvPr id="32" name="Grupo 31"/>
          <p:cNvGrpSpPr/>
          <p:nvPr/>
        </p:nvGrpSpPr>
        <p:grpSpPr>
          <a:xfrm>
            <a:off x="10862507" y="940337"/>
            <a:ext cx="1194955" cy="966357"/>
            <a:chOff x="332510" y="290944"/>
            <a:chExt cx="1194955" cy="966357"/>
          </a:xfrm>
        </p:grpSpPr>
        <p:sp>
          <p:nvSpPr>
            <p:cNvPr id="33" name="Retângulo 32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smtClean="0"/>
                <a:t>Gera contrato e imprime, providencia assinatura e documentos necessários</a:t>
              </a:r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sp>
        <p:nvSpPr>
          <p:cNvPr id="35" name="CaixaDeTexto 34"/>
          <p:cNvSpPr txBox="1"/>
          <p:nvPr/>
        </p:nvSpPr>
        <p:spPr>
          <a:xfrm>
            <a:off x="5604500" y="2819155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GN</a:t>
            </a:r>
          </a:p>
        </p:txBody>
      </p:sp>
      <p:cxnSp>
        <p:nvCxnSpPr>
          <p:cNvPr id="37" name="Conector angulado 36"/>
          <p:cNvCxnSpPr>
            <a:stCxn id="13" idx="3"/>
            <a:endCxn id="35" idx="1"/>
          </p:cNvCxnSpPr>
          <p:nvPr/>
        </p:nvCxnSpPr>
        <p:spPr>
          <a:xfrm>
            <a:off x="4907048" y="1076893"/>
            <a:ext cx="697452" cy="18499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13" idx="3"/>
            <a:endCxn id="40" idx="1"/>
          </p:cNvCxnSpPr>
          <p:nvPr/>
        </p:nvCxnSpPr>
        <p:spPr>
          <a:xfrm flipV="1">
            <a:off x="4907048" y="769788"/>
            <a:ext cx="697452" cy="3071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o 57"/>
          <p:cNvGrpSpPr/>
          <p:nvPr/>
        </p:nvGrpSpPr>
        <p:grpSpPr>
          <a:xfrm>
            <a:off x="10862507" y="2334301"/>
            <a:ext cx="1194955" cy="966357"/>
            <a:chOff x="332510" y="290944"/>
            <a:chExt cx="1194955" cy="966357"/>
          </a:xfrm>
        </p:grpSpPr>
        <p:sp>
          <p:nvSpPr>
            <p:cNvPr id="59" name="Retângulo 5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smtClean="0"/>
                <a:t>Anexa toda a documentação no Tramita e encaminha a solicitação para tratativa</a:t>
              </a:r>
            </a:p>
          </p:txBody>
        </p:sp>
        <p:sp>
          <p:nvSpPr>
            <p:cNvPr id="60" name="Retângulo 5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sp>
        <p:nvSpPr>
          <p:cNvPr id="64" name="Fluxograma: Decisão 63"/>
          <p:cNvSpPr/>
          <p:nvPr/>
        </p:nvSpPr>
        <p:spPr>
          <a:xfrm>
            <a:off x="9179291" y="1167666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De acordo com simulação?</a:t>
            </a:r>
            <a:endParaRPr lang="pt-BR" sz="800"/>
          </a:p>
        </p:txBody>
      </p:sp>
      <p:grpSp>
        <p:nvGrpSpPr>
          <p:cNvPr id="113" name="Grupo 112"/>
          <p:cNvGrpSpPr/>
          <p:nvPr/>
        </p:nvGrpSpPr>
        <p:grpSpPr>
          <a:xfrm>
            <a:off x="5601992" y="1604422"/>
            <a:ext cx="1078922" cy="707886"/>
            <a:chOff x="5299364" y="831717"/>
            <a:chExt cx="1078922" cy="707886"/>
          </a:xfrm>
        </p:grpSpPr>
        <p:sp>
          <p:nvSpPr>
            <p:cNvPr id="39" name="CaixaDeTexto 38"/>
            <p:cNvSpPr txBox="1"/>
            <p:nvPr/>
          </p:nvSpPr>
          <p:spPr>
            <a:xfrm>
              <a:off x="5299364" y="831717"/>
              <a:ext cx="1078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smtClean="0"/>
                <a:t>Diretor Comercial</a:t>
              </a:r>
            </a:p>
            <a:p>
              <a:endParaRPr lang="pt-BR" sz="800" smtClean="0"/>
            </a:p>
            <a:p>
              <a:r>
                <a:rPr lang="pt-BR" sz="800" smtClean="0"/>
                <a:t>Gerente Divisão</a:t>
              </a:r>
            </a:p>
            <a:p>
              <a:endParaRPr lang="pt-BR" sz="800" smtClean="0"/>
            </a:p>
            <a:p>
              <a:r>
                <a:rPr lang="pt-BR" sz="800" smtClean="0"/>
                <a:t>Gerente de Vendas</a:t>
              </a:r>
            </a:p>
          </p:txBody>
        </p:sp>
        <p:cxnSp>
          <p:nvCxnSpPr>
            <p:cNvPr id="71" name="Conector de seta reta 70"/>
            <p:cNvCxnSpPr/>
            <p:nvPr/>
          </p:nvCxnSpPr>
          <p:spPr>
            <a:xfrm flipV="1">
              <a:off x="5558270" y="1239359"/>
              <a:ext cx="0" cy="150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CaixaDeTexto 39"/>
          <p:cNvSpPr txBox="1"/>
          <p:nvPr/>
        </p:nvSpPr>
        <p:spPr>
          <a:xfrm>
            <a:off x="5604500" y="415845"/>
            <a:ext cx="962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CDG</a:t>
            </a:r>
          </a:p>
          <a:p>
            <a:endParaRPr lang="pt-BR" sz="800" dirty="0" smtClean="0"/>
          </a:p>
          <a:p>
            <a:r>
              <a:rPr lang="pt-BR" sz="800" dirty="0" smtClean="0"/>
              <a:t>VP</a:t>
            </a:r>
          </a:p>
          <a:p>
            <a:endParaRPr lang="pt-BR" sz="800" dirty="0" smtClean="0"/>
          </a:p>
          <a:p>
            <a:r>
              <a:rPr lang="pt-BR" sz="800" dirty="0" smtClean="0"/>
              <a:t>Diretor Executivo</a:t>
            </a:r>
          </a:p>
        </p:txBody>
      </p:sp>
      <p:grpSp>
        <p:nvGrpSpPr>
          <p:cNvPr id="88" name="Grupo 87"/>
          <p:cNvGrpSpPr/>
          <p:nvPr/>
        </p:nvGrpSpPr>
        <p:grpSpPr>
          <a:xfrm>
            <a:off x="2222298" y="1710542"/>
            <a:ext cx="1194955" cy="966357"/>
            <a:chOff x="332510" y="290944"/>
            <a:chExt cx="1194955" cy="966357"/>
          </a:xfrm>
        </p:grpSpPr>
        <p:sp>
          <p:nvSpPr>
            <p:cNvPr id="89" name="Retângulo 8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Anexa SO no sistema(sem leitura de dados da negociação) e encaminha para ADM</a:t>
              </a:r>
            </a:p>
          </p:txBody>
        </p:sp>
        <p:sp>
          <p:nvSpPr>
            <p:cNvPr id="90" name="Retângulo 8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cxnSp>
        <p:nvCxnSpPr>
          <p:cNvPr id="92" name="Conector de seta reta 91"/>
          <p:cNvCxnSpPr>
            <a:stCxn id="12" idx="2"/>
            <a:endCxn id="90" idx="0"/>
          </p:cNvCxnSpPr>
          <p:nvPr/>
        </p:nvCxnSpPr>
        <p:spPr>
          <a:xfrm>
            <a:off x="2819776" y="1441030"/>
            <a:ext cx="0" cy="269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de seta reta 93"/>
          <p:cNvCxnSpPr>
            <a:stCxn id="89" idx="1"/>
            <a:endCxn id="9" idx="3"/>
          </p:cNvCxnSpPr>
          <p:nvPr/>
        </p:nvCxnSpPr>
        <p:spPr>
          <a:xfrm flipH="1">
            <a:off x="1989804" y="2308022"/>
            <a:ext cx="232494" cy="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10" idx="0"/>
            <a:endCxn id="4" idx="2"/>
          </p:cNvCxnSpPr>
          <p:nvPr/>
        </p:nvCxnSpPr>
        <p:spPr>
          <a:xfrm flipH="1" flipV="1">
            <a:off x="1381346" y="1443108"/>
            <a:ext cx="10981" cy="272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upo 106"/>
          <p:cNvGrpSpPr/>
          <p:nvPr/>
        </p:nvGrpSpPr>
        <p:grpSpPr>
          <a:xfrm>
            <a:off x="7166547" y="2334301"/>
            <a:ext cx="1194955" cy="966357"/>
            <a:chOff x="332510" y="290944"/>
            <a:chExt cx="1194955" cy="966357"/>
          </a:xfrm>
        </p:grpSpPr>
        <p:sp>
          <p:nvSpPr>
            <p:cNvPr id="108" name="Retângulo 10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Anexa máscara /eform no Tramita</a:t>
              </a:r>
            </a:p>
          </p:txBody>
        </p:sp>
        <p:sp>
          <p:nvSpPr>
            <p:cNvPr id="109" name="Retângulo 10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cxnSp>
        <p:nvCxnSpPr>
          <p:cNvPr id="138" name="Conector angulado 137"/>
          <p:cNvCxnSpPr>
            <a:endCxn id="109" idx="1"/>
          </p:cNvCxnSpPr>
          <p:nvPr/>
        </p:nvCxnSpPr>
        <p:spPr>
          <a:xfrm>
            <a:off x="6528514" y="1958365"/>
            <a:ext cx="638033" cy="4902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de seta reta 140"/>
          <p:cNvCxnSpPr>
            <a:endCxn id="108" idx="1"/>
          </p:cNvCxnSpPr>
          <p:nvPr/>
        </p:nvCxnSpPr>
        <p:spPr>
          <a:xfrm>
            <a:off x="5943600" y="2926877"/>
            <a:ext cx="1222947" cy="4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 angulado 142"/>
          <p:cNvCxnSpPr>
            <a:stCxn id="64" idx="0"/>
            <a:endCxn id="6" idx="0"/>
          </p:cNvCxnSpPr>
          <p:nvPr/>
        </p:nvCxnSpPr>
        <p:spPr>
          <a:xfrm rot="16200000" flipV="1">
            <a:off x="5249187" y="-3391089"/>
            <a:ext cx="690915" cy="8426595"/>
          </a:xfrm>
          <a:prstGeom prst="bentConnector3">
            <a:avLst>
              <a:gd name="adj1" fmla="val 1330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angulado 146"/>
          <p:cNvCxnSpPr>
            <a:stCxn id="109" idx="3"/>
            <a:endCxn id="64" idx="1"/>
          </p:cNvCxnSpPr>
          <p:nvPr/>
        </p:nvCxnSpPr>
        <p:spPr>
          <a:xfrm flipV="1">
            <a:off x="8361502" y="1536544"/>
            <a:ext cx="817789" cy="9120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de seta reta 148"/>
          <p:cNvCxnSpPr>
            <a:stCxn id="64" idx="3"/>
            <a:endCxn id="33" idx="1"/>
          </p:cNvCxnSpPr>
          <p:nvPr/>
        </p:nvCxnSpPr>
        <p:spPr>
          <a:xfrm>
            <a:off x="10436591" y="1536544"/>
            <a:ext cx="425916" cy="1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de seta reta 176"/>
          <p:cNvCxnSpPr/>
          <p:nvPr/>
        </p:nvCxnSpPr>
        <p:spPr>
          <a:xfrm flipV="1">
            <a:off x="5850369" y="1764844"/>
            <a:ext cx="0" cy="150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de seta reta 177"/>
          <p:cNvCxnSpPr/>
          <p:nvPr/>
        </p:nvCxnSpPr>
        <p:spPr>
          <a:xfrm flipV="1">
            <a:off x="5729270" y="568934"/>
            <a:ext cx="0" cy="150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de seta reta 178"/>
          <p:cNvCxnSpPr/>
          <p:nvPr/>
        </p:nvCxnSpPr>
        <p:spPr>
          <a:xfrm flipV="1">
            <a:off x="5729270" y="818508"/>
            <a:ext cx="0" cy="150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Grupo 187"/>
          <p:cNvGrpSpPr/>
          <p:nvPr/>
        </p:nvGrpSpPr>
        <p:grpSpPr>
          <a:xfrm>
            <a:off x="7163828" y="346346"/>
            <a:ext cx="1194955" cy="966357"/>
            <a:chOff x="332510" y="290944"/>
            <a:chExt cx="1194955" cy="966357"/>
          </a:xfrm>
        </p:grpSpPr>
        <p:sp>
          <p:nvSpPr>
            <p:cNvPr id="189" name="Retângulo 18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Anexa máscara /eform  e </a:t>
              </a:r>
              <a:r>
                <a:rPr lang="pt-BR" sz="800" dirty="0" err="1" smtClean="0"/>
                <a:t>ppt</a:t>
              </a:r>
              <a:r>
                <a:rPr lang="pt-BR" sz="800" dirty="0" smtClean="0"/>
                <a:t> de defesa no Tramita</a:t>
              </a:r>
            </a:p>
          </p:txBody>
        </p:sp>
        <p:sp>
          <p:nvSpPr>
            <p:cNvPr id="190" name="Retângulo 18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GN</a:t>
              </a:r>
              <a:endParaRPr lang="pt-BR" sz="1000" b="1"/>
            </a:p>
          </p:txBody>
        </p:sp>
      </p:grpSp>
      <p:cxnSp>
        <p:nvCxnSpPr>
          <p:cNvPr id="193" name="Conector de seta reta 192"/>
          <p:cNvCxnSpPr>
            <a:endCxn id="189" idx="1"/>
          </p:cNvCxnSpPr>
          <p:nvPr/>
        </p:nvCxnSpPr>
        <p:spPr>
          <a:xfrm>
            <a:off x="6528514" y="940337"/>
            <a:ext cx="635314" cy="3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angulado 199"/>
          <p:cNvCxnSpPr>
            <a:stCxn id="189" idx="3"/>
            <a:endCxn id="64" idx="1"/>
          </p:cNvCxnSpPr>
          <p:nvPr/>
        </p:nvCxnSpPr>
        <p:spPr>
          <a:xfrm>
            <a:off x="8358783" y="943826"/>
            <a:ext cx="820508" cy="5927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o explicativo retangular com cantos arredondados 202"/>
          <p:cNvSpPr/>
          <p:nvPr/>
        </p:nvSpPr>
        <p:spPr>
          <a:xfrm>
            <a:off x="9979859" y="303775"/>
            <a:ext cx="1105325" cy="514733"/>
          </a:xfrm>
          <a:prstGeom prst="wedgeRoundRectCallout">
            <a:avLst>
              <a:gd name="adj1" fmla="val -43820"/>
              <a:gd name="adj2" fmla="val 78744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pt-BR" sz="800" dirty="0">
                <a:solidFill>
                  <a:prstClr val="black"/>
                </a:solidFill>
              </a:rPr>
              <a:t>Passa por aprovação de toda hierarquia e qualquer um pode devolver ao GN</a:t>
            </a:r>
          </a:p>
        </p:txBody>
      </p:sp>
      <p:sp>
        <p:nvSpPr>
          <p:cNvPr id="204" name="CaixaDeTexto 203"/>
          <p:cNvSpPr txBox="1"/>
          <p:nvPr/>
        </p:nvSpPr>
        <p:spPr>
          <a:xfrm>
            <a:off x="9807226" y="968950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Não</a:t>
            </a:r>
            <a:endParaRPr lang="pt-BR" sz="800"/>
          </a:p>
        </p:txBody>
      </p:sp>
      <p:sp>
        <p:nvSpPr>
          <p:cNvPr id="205" name="CaixaDeTexto 204"/>
          <p:cNvSpPr txBox="1"/>
          <p:nvPr/>
        </p:nvSpPr>
        <p:spPr>
          <a:xfrm>
            <a:off x="10352212" y="1593963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Sim</a:t>
            </a:r>
            <a:endParaRPr lang="pt-BR" sz="800"/>
          </a:p>
        </p:txBody>
      </p:sp>
      <p:cxnSp>
        <p:nvCxnSpPr>
          <p:cNvPr id="207" name="Conector de seta reta 206"/>
          <p:cNvCxnSpPr>
            <a:stCxn id="33" idx="2"/>
            <a:endCxn id="60" idx="0"/>
          </p:cNvCxnSpPr>
          <p:nvPr/>
        </p:nvCxnSpPr>
        <p:spPr>
          <a:xfrm>
            <a:off x="11459985" y="1906694"/>
            <a:ext cx="0" cy="427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783867" y="3904823"/>
            <a:ext cx="1194955" cy="966357"/>
            <a:chOff x="332510" y="290944"/>
            <a:chExt cx="1194955" cy="966357"/>
          </a:xfrm>
        </p:grpSpPr>
        <p:sp>
          <p:nvSpPr>
            <p:cNvPr id="218" name="Retângulo 21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smtClean="0"/>
                <a:t>Recebe solicitação com status</a:t>
              </a:r>
              <a:r>
                <a:rPr lang="pt-BR" sz="800" smtClean="0">
                  <a:solidFill>
                    <a:srgbClr val="FF0000"/>
                  </a:solidFill>
                </a:rPr>
                <a:t> “aguardando protocolo”</a:t>
              </a:r>
            </a:p>
          </p:txBody>
        </p:sp>
        <p:sp>
          <p:nvSpPr>
            <p:cNvPr id="219" name="Retângulo 21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cxnSp>
        <p:nvCxnSpPr>
          <p:cNvPr id="221" name="Conector angulado 220"/>
          <p:cNvCxnSpPr>
            <a:stCxn id="59" idx="2"/>
            <a:endCxn id="219" idx="0"/>
          </p:cNvCxnSpPr>
          <p:nvPr/>
        </p:nvCxnSpPr>
        <p:spPr>
          <a:xfrm rot="5400000">
            <a:off x="6118583" y="-1436580"/>
            <a:ext cx="604165" cy="100786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4" name="Grupo 223"/>
          <p:cNvGrpSpPr/>
          <p:nvPr/>
        </p:nvGrpSpPr>
        <p:grpSpPr>
          <a:xfrm>
            <a:off x="2235642" y="3911402"/>
            <a:ext cx="1194955" cy="966357"/>
            <a:chOff x="332510" y="290944"/>
            <a:chExt cx="1194955" cy="966357"/>
          </a:xfrm>
        </p:grpSpPr>
        <p:sp>
          <p:nvSpPr>
            <p:cNvPr id="225" name="Retângulo 224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Gera protocolo na tela de lead no Vivocorp, preenche o número do protocolo no Tramita e altera status para </a:t>
              </a:r>
              <a:r>
                <a:rPr lang="pt-BR" sz="800" dirty="0" smtClean="0">
                  <a:solidFill>
                    <a:srgbClr val="FF0000"/>
                  </a:solidFill>
                </a:rPr>
                <a:t>“aguardando análise”</a:t>
              </a:r>
            </a:p>
          </p:txBody>
        </p:sp>
        <p:sp>
          <p:nvSpPr>
            <p:cNvPr id="226" name="Retângulo 225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grpSp>
        <p:nvGrpSpPr>
          <p:cNvPr id="228" name="Grupo 227"/>
          <p:cNvGrpSpPr/>
          <p:nvPr/>
        </p:nvGrpSpPr>
        <p:grpSpPr>
          <a:xfrm>
            <a:off x="3674072" y="3911402"/>
            <a:ext cx="1194955" cy="966357"/>
            <a:chOff x="332510" y="290944"/>
            <a:chExt cx="1194955" cy="966357"/>
          </a:xfrm>
        </p:grpSpPr>
        <p:sp>
          <p:nvSpPr>
            <p:cNvPr id="229" name="Retângulo 22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smtClean="0"/>
                <a:t>Valida toda documentação através do check list</a:t>
              </a:r>
              <a:endParaRPr lang="pt-BR" sz="800" smtClean="0">
                <a:solidFill>
                  <a:srgbClr val="FF0000"/>
                </a:solidFill>
              </a:endParaRPr>
            </a:p>
          </p:txBody>
        </p:sp>
        <p:sp>
          <p:nvSpPr>
            <p:cNvPr id="230" name="Retângulo 22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sp>
        <p:nvSpPr>
          <p:cNvPr id="231" name="Fluxograma: Decisão 230"/>
          <p:cNvSpPr/>
          <p:nvPr/>
        </p:nvSpPr>
        <p:spPr>
          <a:xfrm>
            <a:off x="5132110" y="4138071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Documen-tação correta?</a:t>
            </a:r>
            <a:endParaRPr lang="pt-BR" sz="800"/>
          </a:p>
        </p:txBody>
      </p:sp>
      <p:cxnSp>
        <p:nvCxnSpPr>
          <p:cNvPr id="237" name="Conector angulado 236"/>
          <p:cNvCxnSpPr/>
          <p:nvPr/>
        </p:nvCxnSpPr>
        <p:spPr>
          <a:xfrm flipV="1">
            <a:off x="5760760" y="3671763"/>
            <a:ext cx="4843471" cy="455787"/>
          </a:xfrm>
          <a:prstGeom prst="bentConnector3">
            <a:avLst>
              <a:gd name="adj1" fmla="val 1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ctor angulado 238"/>
          <p:cNvCxnSpPr>
            <a:endCxn id="59" idx="1"/>
          </p:cNvCxnSpPr>
          <p:nvPr/>
        </p:nvCxnSpPr>
        <p:spPr>
          <a:xfrm rot="5400000" flipH="1" flipV="1">
            <a:off x="10552206" y="2987879"/>
            <a:ext cx="366399" cy="2542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upo 243"/>
          <p:cNvGrpSpPr/>
          <p:nvPr/>
        </p:nvGrpSpPr>
        <p:grpSpPr>
          <a:xfrm>
            <a:off x="6626290" y="3911944"/>
            <a:ext cx="1194955" cy="966357"/>
            <a:chOff x="332510" y="290944"/>
            <a:chExt cx="1194955" cy="966357"/>
          </a:xfrm>
        </p:grpSpPr>
        <p:sp>
          <p:nvSpPr>
            <p:cNvPr id="245" name="Retângulo 244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smtClean="0"/>
                <a:t>Aprova solicitação,  direciona para guardião de inserção e status é alterado para </a:t>
              </a:r>
              <a:r>
                <a:rPr lang="pt-BR" sz="800" smtClean="0">
                  <a:solidFill>
                    <a:srgbClr val="FF0000"/>
                  </a:solidFill>
                </a:rPr>
                <a:t>“aguardando nº cotação” </a:t>
              </a:r>
            </a:p>
          </p:txBody>
        </p:sp>
        <p:sp>
          <p:nvSpPr>
            <p:cNvPr id="246" name="Retângulo 245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grpSp>
        <p:nvGrpSpPr>
          <p:cNvPr id="247" name="Grupo 246"/>
          <p:cNvGrpSpPr/>
          <p:nvPr/>
        </p:nvGrpSpPr>
        <p:grpSpPr>
          <a:xfrm>
            <a:off x="8038014" y="3909635"/>
            <a:ext cx="1194955" cy="966357"/>
            <a:chOff x="332510" y="290944"/>
            <a:chExt cx="1194955" cy="966357"/>
          </a:xfrm>
        </p:grpSpPr>
        <p:sp>
          <p:nvSpPr>
            <p:cNvPr id="248" name="Retângulo 24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Faz download da documentação, verifica no </a:t>
              </a:r>
              <a:r>
                <a:rPr lang="pt-BR" sz="800" dirty="0" err="1" smtClean="0"/>
                <a:t>Vivocorp</a:t>
              </a:r>
              <a:r>
                <a:rPr lang="pt-BR" sz="800" dirty="0" smtClean="0"/>
                <a:t> os </a:t>
              </a:r>
              <a:r>
                <a:rPr lang="pt-BR" sz="800" dirty="0" smtClean="0"/>
                <a:t>dados do cliente: endereço, contato, carteira, conta</a:t>
              </a:r>
              <a:endParaRPr lang="pt-BR" sz="8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49" name="Retângulo 24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cxnSp>
        <p:nvCxnSpPr>
          <p:cNvPr id="251" name="Conector de seta reta 250"/>
          <p:cNvCxnSpPr>
            <a:stCxn id="218" idx="3"/>
            <a:endCxn id="225" idx="1"/>
          </p:cNvCxnSpPr>
          <p:nvPr/>
        </p:nvCxnSpPr>
        <p:spPr>
          <a:xfrm>
            <a:off x="1978822" y="4502303"/>
            <a:ext cx="256820" cy="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ector de seta reta 251"/>
          <p:cNvCxnSpPr>
            <a:stCxn id="225" idx="3"/>
            <a:endCxn id="229" idx="1"/>
          </p:cNvCxnSpPr>
          <p:nvPr/>
        </p:nvCxnSpPr>
        <p:spPr>
          <a:xfrm>
            <a:off x="3430597" y="4508882"/>
            <a:ext cx="243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ector de seta reta 255"/>
          <p:cNvCxnSpPr>
            <a:stCxn id="229" idx="3"/>
            <a:endCxn id="231" idx="1"/>
          </p:cNvCxnSpPr>
          <p:nvPr/>
        </p:nvCxnSpPr>
        <p:spPr>
          <a:xfrm flipV="1">
            <a:off x="4869027" y="4506949"/>
            <a:ext cx="263083" cy="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ector de seta reta 258"/>
          <p:cNvCxnSpPr>
            <a:stCxn id="231" idx="3"/>
            <a:endCxn id="245" idx="1"/>
          </p:cNvCxnSpPr>
          <p:nvPr/>
        </p:nvCxnSpPr>
        <p:spPr>
          <a:xfrm>
            <a:off x="6389410" y="4506949"/>
            <a:ext cx="236880" cy="2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ector de seta reta 261"/>
          <p:cNvCxnSpPr>
            <a:stCxn id="245" idx="3"/>
            <a:endCxn id="248" idx="1"/>
          </p:cNvCxnSpPr>
          <p:nvPr/>
        </p:nvCxnSpPr>
        <p:spPr>
          <a:xfrm flipV="1">
            <a:off x="7821245" y="4507115"/>
            <a:ext cx="216769" cy="2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CaixaDeTexto 264"/>
          <p:cNvSpPr txBox="1"/>
          <p:nvPr/>
        </p:nvSpPr>
        <p:spPr>
          <a:xfrm>
            <a:off x="6295267" y="4286858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sp>
        <p:nvSpPr>
          <p:cNvPr id="266" name="CaixaDeTexto 265"/>
          <p:cNvSpPr txBox="1"/>
          <p:nvPr/>
        </p:nvSpPr>
        <p:spPr>
          <a:xfrm>
            <a:off x="5714070" y="3843462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sp>
        <p:nvSpPr>
          <p:cNvPr id="268" name="Fluxograma: Decisão 267"/>
          <p:cNvSpPr/>
          <p:nvPr/>
        </p:nvSpPr>
        <p:spPr>
          <a:xfrm>
            <a:off x="9450690" y="4133425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smtClean="0"/>
              <a:t>Informa-ções corretas?</a:t>
            </a:r>
            <a:endParaRPr lang="pt-BR" sz="800"/>
          </a:p>
        </p:txBody>
      </p:sp>
      <p:cxnSp>
        <p:nvCxnSpPr>
          <p:cNvPr id="269" name="Conector de seta reta 268"/>
          <p:cNvCxnSpPr>
            <a:stCxn id="268" idx="3"/>
            <a:endCxn id="294" idx="1"/>
          </p:cNvCxnSpPr>
          <p:nvPr/>
        </p:nvCxnSpPr>
        <p:spPr>
          <a:xfrm>
            <a:off x="10707990" y="4502303"/>
            <a:ext cx="154517" cy="5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CaixaDeTexto 269"/>
          <p:cNvSpPr txBox="1"/>
          <p:nvPr/>
        </p:nvSpPr>
        <p:spPr>
          <a:xfrm>
            <a:off x="10521664" y="4250049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Sim</a:t>
            </a:r>
            <a:endParaRPr lang="pt-BR" sz="800"/>
          </a:p>
        </p:txBody>
      </p:sp>
      <p:sp>
        <p:nvSpPr>
          <p:cNvPr id="271" name="CaixaDeTexto 270"/>
          <p:cNvSpPr txBox="1"/>
          <p:nvPr/>
        </p:nvSpPr>
        <p:spPr>
          <a:xfrm>
            <a:off x="10055836" y="3861992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smtClean="0"/>
              <a:t>Não</a:t>
            </a:r>
            <a:endParaRPr lang="pt-BR" sz="800"/>
          </a:p>
        </p:txBody>
      </p:sp>
      <p:cxnSp>
        <p:nvCxnSpPr>
          <p:cNvPr id="286" name="Conector de seta reta 285"/>
          <p:cNvCxnSpPr>
            <a:stCxn id="248" idx="3"/>
            <a:endCxn id="268" idx="1"/>
          </p:cNvCxnSpPr>
          <p:nvPr/>
        </p:nvCxnSpPr>
        <p:spPr>
          <a:xfrm flipV="1">
            <a:off x="9232969" y="4502303"/>
            <a:ext cx="217721" cy="4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ector angulado 289"/>
          <p:cNvCxnSpPr/>
          <p:nvPr/>
        </p:nvCxnSpPr>
        <p:spPr>
          <a:xfrm rot="5400000" flipH="1" flipV="1">
            <a:off x="9872025" y="3407948"/>
            <a:ext cx="932483" cy="53193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3" name="Grupo 292"/>
          <p:cNvGrpSpPr/>
          <p:nvPr/>
        </p:nvGrpSpPr>
        <p:grpSpPr>
          <a:xfrm>
            <a:off x="10862507" y="3910379"/>
            <a:ext cx="1194955" cy="966357"/>
            <a:chOff x="332510" y="290944"/>
            <a:chExt cx="1194955" cy="966357"/>
          </a:xfrm>
        </p:grpSpPr>
        <p:sp>
          <p:nvSpPr>
            <p:cNvPr id="294" name="Retângulo 293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Cria cotação, informa número Tramita e altera status para </a:t>
              </a:r>
              <a:r>
                <a:rPr lang="pt-BR" sz="800" dirty="0" smtClean="0">
                  <a:solidFill>
                    <a:srgbClr val="FF0000"/>
                  </a:solidFill>
                </a:rPr>
                <a:t>“aberta”</a:t>
              </a:r>
            </a:p>
          </p:txBody>
        </p:sp>
        <p:sp>
          <p:nvSpPr>
            <p:cNvPr id="295" name="Retângulo 294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Guardião</a:t>
              </a:r>
              <a:endParaRPr lang="pt-BR" sz="1000" b="1" dirty="0"/>
            </a:p>
          </p:txBody>
        </p:sp>
      </p:grpSp>
      <p:cxnSp>
        <p:nvCxnSpPr>
          <p:cNvPr id="301" name="Conector angulado 300"/>
          <p:cNvCxnSpPr>
            <a:stCxn id="13" idx="3"/>
            <a:endCxn id="39" idx="1"/>
          </p:cNvCxnSpPr>
          <p:nvPr/>
        </p:nvCxnSpPr>
        <p:spPr>
          <a:xfrm>
            <a:off x="4907048" y="1076893"/>
            <a:ext cx="694944" cy="8814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ector angulado 305"/>
          <p:cNvCxnSpPr>
            <a:stCxn id="294" idx="2"/>
          </p:cNvCxnSpPr>
          <p:nvPr/>
        </p:nvCxnSpPr>
        <p:spPr>
          <a:xfrm rot="5400000">
            <a:off x="6955906" y="1369257"/>
            <a:ext cx="996600" cy="80115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upo 96"/>
          <p:cNvGrpSpPr/>
          <p:nvPr/>
        </p:nvGrpSpPr>
        <p:grpSpPr>
          <a:xfrm>
            <a:off x="2222296" y="5386579"/>
            <a:ext cx="1194955" cy="966357"/>
            <a:chOff x="332510" y="290944"/>
            <a:chExt cx="1194955" cy="966357"/>
          </a:xfrm>
        </p:grpSpPr>
        <p:sp>
          <p:nvSpPr>
            <p:cNvPr id="98" name="Retângulo 9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Envia cotação para Ilha de Input no Vivocorp, a qual fica com status </a:t>
              </a:r>
              <a:r>
                <a:rPr lang="pt-BR" sz="800" dirty="0" smtClean="0">
                  <a:solidFill>
                    <a:srgbClr val="FF0000"/>
                  </a:solidFill>
                </a:rPr>
                <a:t>“enviado ilha de input” </a:t>
              </a:r>
              <a:r>
                <a:rPr lang="pt-BR" sz="800" dirty="0" smtClean="0"/>
                <a:t>para tratativa na esteira móvel.</a:t>
              </a:r>
              <a:endParaRPr lang="pt-BR" sz="8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99" name="Retângulo 9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Guardião</a:t>
              </a:r>
              <a:endParaRPr lang="pt-BR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2026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/>
          <p:cNvSpPr/>
          <p:nvPr/>
        </p:nvSpPr>
        <p:spPr>
          <a:xfrm rot="16200000">
            <a:off x="-2468407" y="3226816"/>
            <a:ext cx="5784113" cy="3845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Esteira Móvel - Cotação</a:t>
            </a:r>
            <a:endParaRPr lang="pt-BR" dirty="0"/>
          </a:p>
        </p:txBody>
      </p:sp>
      <p:sp>
        <p:nvSpPr>
          <p:cNvPr id="167" name="Elipse 166"/>
          <p:cNvSpPr/>
          <p:nvPr/>
        </p:nvSpPr>
        <p:spPr>
          <a:xfrm>
            <a:off x="750663" y="1680643"/>
            <a:ext cx="240199" cy="216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1</a:t>
            </a:r>
            <a:endParaRPr lang="pt-BR" dirty="0"/>
          </a:p>
        </p:txBody>
      </p:sp>
      <p:sp>
        <p:nvSpPr>
          <p:cNvPr id="157" name="Retângulo de cantos arredondados 156"/>
          <p:cNvSpPr/>
          <p:nvPr/>
        </p:nvSpPr>
        <p:spPr>
          <a:xfrm>
            <a:off x="10635214" y="1980888"/>
            <a:ext cx="1194955" cy="21544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F0000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10635158" y="1969297"/>
            <a:ext cx="1249060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800" i="1" dirty="0" err="1" smtClean="0">
                <a:solidFill>
                  <a:schemeClr val="accent1">
                    <a:lumMod val="75000"/>
                  </a:schemeClr>
                </a:solidFill>
              </a:rPr>
              <a:t>Pré</a:t>
            </a:r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-viabilidade Concluída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1" name="Retângulo de cantos arredondados 150"/>
          <p:cNvSpPr/>
          <p:nvPr/>
        </p:nvSpPr>
        <p:spPr>
          <a:xfrm>
            <a:off x="10635158" y="1393207"/>
            <a:ext cx="1194955" cy="21544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800">
              <a:solidFill>
                <a:srgbClr val="FF0000"/>
              </a:solidFill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10627757" y="1393208"/>
            <a:ext cx="1191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Reprovado Ilha de Input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1119789" y="1194151"/>
            <a:ext cx="1194955" cy="966357"/>
            <a:chOff x="332510" y="290944"/>
            <a:chExt cx="1194955" cy="966357"/>
          </a:xfrm>
        </p:grpSpPr>
        <p:sp>
          <p:nvSpPr>
            <p:cNvPr id="5" name="Retângulo 4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Cria cotação, informa número Tramita e altera status para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“aberta”</a:t>
              </a:r>
            </a:p>
          </p:txBody>
        </p:sp>
        <p:sp>
          <p:nvSpPr>
            <p:cNvPr id="6" name="Retângulo 5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smtClean="0"/>
                <a:t>Guardião</a:t>
              </a:r>
              <a:endParaRPr lang="pt-BR" sz="1000" b="1"/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4060999" y="1194151"/>
            <a:ext cx="1194955" cy="966357"/>
            <a:chOff x="332510" y="290944"/>
            <a:chExt cx="1194955" cy="966357"/>
          </a:xfrm>
        </p:grpSpPr>
        <p:sp>
          <p:nvSpPr>
            <p:cNvPr id="8" name="Retângulo 7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Analisa documentação e cadastro do cliente,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“enviado Ilha de Input”</a:t>
              </a:r>
              <a:r>
                <a:rPr lang="pt-BR" sz="800" dirty="0" smtClean="0">
                  <a:solidFill>
                    <a:schemeClr val="tx1"/>
                  </a:solidFill>
                </a:rPr>
                <a:t>; substatus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“análise de documentação”</a:t>
              </a:r>
            </a:p>
          </p:txBody>
        </p:sp>
        <p:sp>
          <p:nvSpPr>
            <p:cNvPr id="9" name="Retângulo 8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Ilha de Input</a:t>
              </a:r>
              <a:endParaRPr lang="pt-BR" sz="1000" b="1" dirty="0"/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5866540" y="2589610"/>
            <a:ext cx="1194955" cy="966357"/>
            <a:chOff x="332510" y="290944"/>
            <a:chExt cx="1194955" cy="966357"/>
          </a:xfrm>
        </p:grpSpPr>
        <p:sp>
          <p:nvSpPr>
            <p:cNvPr id="11" name="Retângulo 10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Análise automática do perfil do cliente na matriz de resultados (inadimplência), histórico de cotações e Serasa 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Crédito ***</a:t>
              </a:r>
              <a:endParaRPr lang="pt-BR" sz="1000" b="1" dirty="0"/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7377749" y="1194151"/>
            <a:ext cx="1194955" cy="966357"/>
            <a:chOff x="332510" y="290944"/>
            <a:chExt cx="1194955" cy="966357"/>
          </a:xfrm>
        </p:grpSpPr>
        <p:sp>
          <p:nvSpPr>
            <p:cNvPr id="14" name="Retângulo 13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Inicia o processo de personalização das linhas. Status</a:t>
              </a:r>
              <a:r>
                <a:rPr lang="pt-BR" sz="800" dirty="0" smtClean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“enviado Ilha de Input”</a:t>
              </a:r>
              <a:r>
                <a:rPr lang="pt-BR" sz="800" dirty="0" smtClean="0">
                  <a:solidFill>
                    <a:schemeClr val="accent1">
                      <a:lumMod val="75000"/>
                    </a:schemeClr>
                  </a:solidFill>
                </a:rPr>
                <a:t>, </a:t>
              </a:r>
              <a:r>
                <a:rPr lang="pt-BR" sz="800" dirty="0" smtClean="0">
                  <a:solidFill>
                    <a:schemeClr val="tx1"/>
                  </a:solidFill>
                </a:rPr>
                <a:t>substatus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“input”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Ilha de Input</a:t>
              </a:r>
              <a:endParaRPr lang="pt-BR" sz="1000" b="1" dirty="0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2596326" y="1194151"/>
            <a:ext cx="1194955" cy="966357"/>
            <a:chOff x="332510" y="290944"/>
            <a:chExt cx="1194955" cy="966357"/>
          </a:xfrm>
        </p:grpSpPr>
        <p:sp>
          <p:nvSpPr>
            <p:cNvPr id="19" name="Retângulo 18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Envia cotação para Ilha de Input no Vivocorp, a qual fica com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“enviado ilha de input” </a:t>
              </a:r>
              <a:r>
                <a:rPr lang="pt-BR" sz="800" dirty="0" smtClean="0"/>
                <a:t>para tratativa na esteira móvel.</a:t>
              </a:r>
              <a:endParaRPr lang="pt-BR" sz="8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Guardião</a:t>
              </a:r>
              <a:endParaRPr lang="pt-BR" sz="1000" b="1" dirty="0"/>
            </a:p>
          </p:txBody>
        </p:sp>
      </p:grpSp>
      <p:sp>
        <p:nvSpPr>
          <p:cNvPr id="21" name="Fluxograma: Decisão 20"/>
          <p:cNvSpPr/>
          <p:nvPr/>
        </p:nvSpPr>
        <p:spPr>
          <a:xfrm>
            <a:off x="5525672" y="1422753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Documentação correta?</a:t>
            </a:r>
            <a:endParaRPr lang="pt-BR" sz="800" dirty="0"/>
          </a:p>
        </p:txBody>
      </p:sp>
      <p:cxnSp>
        <p:nvCxnSpPr>
          <p:cNvPr id="22" name="Conector de seta reta 21"/>
          <p:cNvCxnSpPr/>
          <p:nvPr/>
        </p:nvCxnSpPr>
        <p:spPr>
          <a:xfrm flipV="1">
            <a:off x="2319020" y="1788732"/>
            <a:ext cx="263083" cy="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V="1">
            <a:off x="3791281" y="1788732"/>
            <a:ext cx="263083" cy="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 flipV="1">
            <a:off x="5255954" y="1788732"/>
            <a:ext cx="263083" cy="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>
            <a:off x="6795476" y="1788732"/>
            <a:ext cx="584973" cy="1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852033" y="1573288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cxnSp>
        <p:nvCxnSpPr>
          <p:cNvPr id="34" name="Conector angulado 33"/>
          <p:cNvCxnSpPr>
            <a:stCxn id="21" idx="0"/>
            <a:endCxn id="20" idx="0"/>
          </p:cNvCxnSpPr>
          <p:nvPr/>
        </p:nvCxnSpPr>
        <p:spPr>
          <a:xfrm rot="16200000" flipV="1">
            <a:off x="4559762" y="-171807"/>
            <a:ext cx="228602" cy="2960518"/>
          </a:xfrm>
          <a:prstGeom prst="bentConnector3">
            <a:avLst>
              <a:gd name="adj1" fmla="val 1999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>
            <a:off x="6154322" y="1117309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sp>
        <p:nvSpPr>
          <p:cNvPr id="39" name="Fluxograma: Decisão 38"/>
          <p:cNvSpPr/>
          <p:nvPr/>
        </p:nvSpPr>
        <p:spPr>
          <a:xfrm>
            <a:off x="8829001" y="1422753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Input concluído?</a:t>
            </a:r>
            <a:endParaRPr lang="pt-BR" sz="800" dirty="0"/>
          </a:p>
        </p:txBody>
      </p:sp>
      <p:cxnSp>
        <p:nvCxnSpPr>
          <p:cNvPr id="42" name="Conector de seta reta 41"/>
          <p:cNvCxnSpPr/>
          <p:nvPr/>
        </p:nvCxnSpPr>
        <p:spPr>
          <a:xfrm flipV="1">
            <a:off x="8565918" y="1788732"/>
            <a:ext cx="263083" cy="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upo 44"/>
          <p:cNvGrpSpPr/>
          <p:nvPr/>
        </p:nvGrpSpPr>
        <p:grpSpPr>
          <a:xfrm>
            <a:off x="8860173" y="2583032"/>
            <a:ext cx="1194955" cy="966357"/>
            <a:chOff x="332510" y="290944"/>
            <a:chExt cx="1194955" cy="966357"/>
          </a:xfrm>
        </p:grpSpPr>
        <p:sp>
          <p:nvSpPr>
            <p:cNvPr id="46" name="Retângulo 45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Analisa a venda e o cliente.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“mesa de fraude”</a:t>
              </a:r>
            </a:p>
          </p:txBody>
        </p:sp>
        <p:sp>
          <p:nvSpPr>
            <p:cNvPr id="47" name="Retângulo 46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Fraude ***</a:t>
              </a:r>
              <a:endParaRPr lang="pt-BR" sz="1000" b="1" dirty="0"/>
            </a:p>
          </p:txBody>
        </p:sp>
      </p:grpSp>
      <p:cxnSp>
        <p:nvCxnSpPr>
          <p:cNvPr id="51" name="Conector reto 50"/>
          <p:cNvCxnSpPr>
            <a:stCxn id="39" idx="3"/>
          </p:cNvCxnSpPr>
          <p:nvPr/>
        </p:nvCxnSpPr>
        <p:spPr>
          <a:xfrm flipV="1">
            <a:off x="10086301" y="1788732"/>
            <a:ext cx="320693" cy="28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do 55"/>
          <p:cNvCxnSpPr>
            <a:endCxn id="52" idx="1"/>
          </p:cNvCxnSpPr>
          <p:nvPr/>
        </p:nvCxnSpPr>
        <p:spPr>
          <a:xfrm rot="5400000" flipH="1" flipV="1">
            <a:off x="10301366" y="1606557"/>
            <a:ext cx="432018" cy="2207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10035519" y="1574687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cxnSp>
        <p:nvCxnSpPr>
          <p:cNvPr id="74" name="Conector angulado 73"/>
          <p:cNvCxnSpPr/>
          <p:nvPr/>
        </p:nvCxnSpPr>
        <p:spPr>
          <a:xfrm rot="16200000" flipH="1">
            <a:off x="10363387" y="1833004"/>
            <a:ext cx="307974" cy="220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39" idx="2"/>
          </p:cNvCxnSpPr>
          <p:nvPr/>
        </p:nvCxnSpPr>
        <p:spPr>
          <a:xfrm>
            <a:off x="9457651" y="2160508"/>
            <a:ext cx="0" cy="415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9456693" y="2259866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cxnSp>
        <p:nvCxnSpPr>
          <p:cNvPr id="84" name="Conector de seta reta 83"/>
          <p:cNvCxnSpPr/>
          <p:nvPr/>
        </p:nvCxnSpPr>
        <p:spPr>
          <a:xfrm>
            <a:off x="11221631" y="2200307"/>
            <a:ext cx="0" cy="382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o 84"/>
          <p:cNvGrpSpPr/>
          <p:nvPr/>
        </p:nvGrpSpPr>
        <p:grpSpPr>
          <a:xfrm>
            <a:off x="10624154" y="2583032"/>
            <a:ext cx="1194955" cy="966357"/>
            <a:chOff x="332510" y="290944"/>
            <a:chExt cx="1194955" cy="966357"/>
          </a:xfrm>
        </p:grpSpPr>
        <p:sp>
          <p:nvSpPr>
            <p:cNvPr id="86" name="Retângulo 85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Interação com comercial para realização de swap (de acordo do cliente e da área de terminais.</a:t>
              </a:r>
            </a:p>
          </p:txBody>
        </p:sp>
        <p:sp>
          <p:nvSpPr>
            <p:cNvPr id="87" name="Retângulo 86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Guardião</a:t>
              </a:r>
              <a:endParaRPr lang="pt-BR" sz="1000" b="1" dirty="0"/>
            </a:p>
          </p:txBody>
        </p:sp>
      </p:grpSp>
      <p:sp>
        <p:nvSpPr>
          <p:cNvPr id="90" name="Fluxograma: Decisão 89"/>
          <p:cNvSpPr/>
          <p:nvPr/>
        </p:nvSpPr>
        <p:spPr>
          <a:xfrm>
            <a:off x="7315404" y="2813574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Aprovado em fraude?</a:t>
            </a:r>
            <a:endParaRPr lang="pt-BR" sz="800" dirty="0"/>
          </a:p>
        </p:txBody>
      </p:sp>
      <p:cxnSp>
        <p:nvCxnSpPr>
          <p:cNvPr id="92" name="Conector de seta reta 91"/>
          <p:cNvCxnSpPr>
            <a:stCxn id="46" idx="1"/>
            <a:endCxn id="90" idx="3"/>
          </p:cNvCxnSpPr>
          <p:nvPr/>
        </p:nvCxnSpPr>
        <p:spPr>
          <a:xfrm flipH="1">
            <a:off x="8572704" y="3180512"/>
            <a:ext cx="287469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CaixaDeTexto 96"/>
          <p:cNvSpPr txBox="1"/>
          <p:nvPr/>
        </p:nvSpPr>
        <p:spPr>
          <a:xfrm>
            <a:off x="7919672" y="3522709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cxnSp>
        <p:nvCxnSpPr>
          <p:cNvPr id="100" name="Conector de seta reta 99"/>
          <p:cNvCxnSpPr/>
          <p:nvPr/>
        </p:nvCxnSpPr>
        <p:spPr>
          <a:xfrm flipH="1" flipV="1">
            <a:off x="7058181" y="3181474"/>
            <a:ext cx="257223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/>
          <p:cNvSpPr txBox="1"/>
          <p:nvPr/>
        </p:nvSpPr>
        <p:spPr>
          <a:xfrm>
            <a:off x="7046856" y="2938010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sp>
        <p:nvSpPr>
          <p:cNvPr id="102" name="Fluxograma: Decisão 101"/>
          <p:cNvSpPr/>
          <p:nvPr/>
        </p:nvSpPr>
        <p:spPr>
          <a:xfrm>
            <a:off x="4344241" y="2811634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Aprovado em crédito?</a:t>
            </a:r>
            <a:endParaRPr lang="pt-BR" sz="800" dirty="0"/>
          </a:p>
        </p:txBody>
      </p:sp>
      <p:cxnSp>
        <p:nvCxnSpPr>
          <p:cNvPr id="103" name="Conector de seta reta 102"/>
          <p:cNvCxnSpPr/>
          <p:nvPr/>
        </p:nvCxnSpPr>
        <p:spPr>
          <a:xfrm flipH="1" flipV="1">
            <a:off x="5598229" y="3180511"/>
            <a:ext cx="257223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aixaDeTexto 103"/>
          <p:cNvSpPr txBox="1"/>
          <p:nvPr/>
        </p:nvSpPr>
        <p:spPr>
          <a:xfrm>
            <a:off x="4085094" y="2939111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cxnSp>
        <p:nvCxnSpPr>
          <p:cNvPr id="105" name="Conector de seta reta 104"/>
          <p:cNvCxnSpPr/>
          <p:nvPr/>
        </p:nvCxnSpPr>
        <p:spPr>
          <a:xfrm flipH="1" flipV="1">
            <a:off x="4079242" y="3180511"/>
            <a:ext cx="257223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upo 105"/>
          <p:cNvGrpSpPr/>
          <p:nvPr/>
        </p:nvGrpSpPr>
        <p:grpSpPr>
          <a:xfrm>
            <a:off x="2882363" y="2589610"/>
            <a:ext cx="1194955" cy="966357"/>
            <a:chOff x="332510" y="290944"/>
            <a:chExt cx="1194955" cy="966357"/>
          </a:xfrm>
        </p:grpSpPr>
        <p:sp>
          <p:nvSpPr>
            <p:cNvPr id="107" name="Retângulo 106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A</a:t>
              </a:r>
              <a:r>
                <a:rPr lang="pt-BR" sz="800" dirty="0" smtClean="0">
                  <a:solidFill>
                    <a:schemeClr val="tx1"/>
                  </a:solidFill>
                </a:rPr>
                <a:t>nexa justificativa para crédito na cotação e reenvia a mesma para visão do crédito;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“análise manual de crédito”</a:t>
              </a:r>
            </a:p>
          </p:txBody>
        </p:sp>
        <p:sp>
          <p:nvSpPr>
            <p:cNvPr id="108" name="Retângulo 107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Guardião</a:t>
              </a:r>
              <a:endParaRPr lang="pt-BR" sz="1000" b="1" dirty="0"/>
            </a:p>
          </p:txBody>
        </p:sp>
      </p:grpSp>
      <p:sp>
        <p:nvSpPr>
          <p:cNvPr id="109" name="Fluxograma: Decisão 108"/>
          <p:cNvSpPr/>
          <p:nvPr/>
        </p:nvSpPr>
        <p:spPr>
          <a:xfrm>
            <a:off x="1354374" y="2818212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Aprovado em crédito?</a:t>
            </a:r>
            <a:endParaRPr lang="pt-BR" sz="800" dirty="0"/>
          </a:p>
        </p:txBody>
      </p:sp>
      <p:cxnSp>
        <p:nvCxnSpPr>
          <p:cNvPr id="110" name="Conector de seta reta 109"/>
          <p:cNvCxnSpPr/>
          <p:nvPr/>
        </p:nvCxnSpPr>
        <p:spPr>
          <a:xfrm flipH="1" flipV="1">
            <a:off x="2608360" y="3178571"/>
            <a:ext cx="257223" cy="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aixaDeTexto 112"/>
          <p:cNvSpPr txBox="1"/>
          <p:nvPr/>
        </p:nvSpPr>
        <p:spPr>
          <a:xfrm>
            <a:off x="1614311" y="2631809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sp>
        <p:nvSpPr>
          <p:cNvPr id="114" name="Texto explicativo retangular com cantos arredondados 113"/>
          <p:cNvSpPr/>
          <p:nvPr/>
        </p:nvSpPr>
        <p:spPr>
          <a:xfrm>
            <a:off x="953793" y="2420587"/>
            <a:ext cx="547253" cy="391047"/>
          </a:xfrm>
          <a:prstGeom prst="wedgeRoundRectCallout">
            <a:avLst>
              <a:gd name="adj1" fmla="val 68868"/>
              <a:gd name="adj2" fmla="val 32521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Crédito negado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15" name="Grupo 114"/>
          <p:cNvGrpSpPr/>
          <p:nvPr/>
        </p:nvGrpSpPr>
        <p:grpSpPr>
          <a:xfrm>
            <a:off x="1385546" y="3915341"/>
            <a:ext cx="1194955" cy="966357"/>
            <a:chOff x="332510" y="290944"/>
            <a:chExt cx="1194955" cy="966357"/>
          </a:xfrm>
        </p:grpSpPr>
        <p:sp>
          <p:nvSpPr>
            <p:cNvPr id="116" name="Retângulo 115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b="1" dirty="0" smtClean="0">
                  <a:solidFill>
                    <a:schemeClr val="tx1"/>
                  </a:solidFill>
                </a:rPr>
                <a:t>Cotação é concluída e gera pedido, o qual passa por análise do backoffice. Status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“aberto”</a:t>
              </a:r>
              <a:r>
                <a:rPr lang="pt-BR" sz="800" i="1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17" name="Retângulo 116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Ilha de Input</a:t>
              </a:r>
              <a:endParaRPr lang="pt-BR" sz="1000" b="1" dirty="0"/>
            </a:p>
          </p:txBody>
        </p:sp>
      </p:grpSp>
      <p:cxnSp>
        <p:nvCxnSpPr>
          <p:cNvPr id="119" name="Conector de seta reta 118"/>
          <p:cNvCxnSpPr>
            <a:stCxn id="109" idx="2"/>
            <a:endCxn id="117" idx="0"/>
          </p:cNvCxnSpPr>
          <p:nvPr/>
        </p:nvCxnSpPr>
        <p:spPr>
          <a:xfrm>
            <a:off x="1983024" y="3555967"/>
            <a:ext cx="0" cy="35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aixaDeTexto 120"/>
          <p:cNvSpPr txBox="1"/>
          <p:nvPr/>
        </p:nvSpPr>
        <p:spPr>
          <a:xfrm>
            <a:off x="1944096" y="3589224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sp>
        <p:nvSpPr>
          <p:cNvPr id="122" name="Texto explicativo retangular com cantos arredondados 121"/>
          <p:cNvSpPr/>
          <p:nvPr/>
        </p:nvSpPr>
        <p:spPr>
          <a:xfrm>
            <a:off x="8318662" y="3644433"/>
            <a:ext cx="538555" cy="391047"/>
          </a:xfrm>
          <a:prstGeom prst="wedgeRoundRectCallout">
            <a:avLst>
              <a:gd name="adj1" fmla="val -70846"/>
              <a:gd name="adj2" fmla="val -37550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Repro-vado fraude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3" name="Texto explicativo retangular com cantos arredondados 122"/>
          <p:cNvSpPr/>
          <p:nvPr/>
        </p:nvSpPr>
        <p:spPr>
          <a:xfrm>
            <a:off x="4243519" y="2443549"/>
            <a:ext cx="538555" cy="391047"/>
          </a:xfrm>
          <a:prstGeom prst="wedgeRoundRectCallout">
            <a:avLst>
              <a:gd name="adj1" fmla="val -38641"/>
              <a:gd name="adj2" fmla="val 75145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Crédito repro-vado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4" name="Texto explicativo retangular com cantos arredondados 123"/>
          <p:cNvSpPr/>
          <p:nvPr/>
        </p:nvSpPr>
        <p:spPr>
          <a:xfrm>
            <a:off x="6332448" y="783357"/>
            <a:ext cx="1270058" cy="223833"/>
          </a:xfrm>
          <a:prstGeom prst="wedgeRoundRectCallout">
            <a:avLst>
              <a:gd name="adj1" fmla="val -38940"/>
              <a:gd name="adj2" fmla="val 99712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Reprovado Ilha de Input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27" name="Conector angulado 126"/>
          <p:cNvCxnSpPr>
            <a:stCxn id="52" idx="0"/>
          </p:cNvCxnSpPr>
          <p:nvPr/>
        </p:nvCxnSpPr>
        <p:spPr>
          <a:xfrm rot="16200000" flipV="1">
            <a:off x="6838686" y="-2991539"/>
            <a:ext cx="739866" cy="802962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/>
          <p:nvPr/>
        </p:nvCxnSpPr>
        <p:spPr>
          <a:xfrm>
            <a:off x="3193803" y="653341"/>
            <a:ext cx="0" cy="382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Fluxograma: Decisão 131"/>
          <p:cNvSpPr/>
          <p:nvPr/>
        </p:nvSpPr>
        <p:spPr>
          <a:xfrm>
            <a:off x="9710989" y="3686524"/>
            <a:ext cx="1257300" cy="737755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Swap realizado?</a:t>
            </a:r>
            <a:endParaRPr lang="pt-BR" sz="800" dirty="0"/>
          </a:p>
        </p:txBody>
      </p:sp>
      <p:cxnSp>
        <p:nvCxnSpPr>
          <p:cNvPr id="134" name="Conector angulado 133"/>
          <p:cNvCxnSpPr>
            <a:stCxn id="86" idx="2"/>
            <a:endCxn id="132" idx="3"/>
          </p:cNvCxnSpPr>
          <p:nvPr/>
        </p:nvCxnSpPr>
        <p:spPr>
          <a:xfrm rot="5400000">
            <a:off x="10841955" y="3675724"/>
            <a:ext cx="506013" cy="2533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angulado 137"/>
          <p:cNvCxnSpPr>
            <a:stCxn id="132" idx="1"/>
            <a:endCxn id="46" idx="2"/>
          </p:cNvCxnSpPr>
          <p:nvPr/>
        </p:nvCxnSpPr>
        <p:spPr>
          <a:xfrm rot="10800000">
            <a:off x="9457651" y="3549390"/>
            <a:ext cx="253338" cy="5060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aixaDeTexto 138"/>
          <p:cNvSpPr txBox="1"/>
          <p:nvPr/>
        </p:nvSpPr>
        <p:spPr>
          <a:xfrm>
            <a:off x="9461712" y="3839957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cxnSp>
        <p:nvCxnSpPr>
          <p:cNvPr id="140" name="Conector de seta reta 139"/>
          <p:cNvCxnSpPr/>
          <p:nvPr/>
        </p:nvCxnSpPr>
        <p:spPr>
          <a:xfrm>
            <a:off x="10336081" y="4424279"/>
            <a:ext cx="0" cy="35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Grupo 140"/>
          <p:cNvGrpSpPr/>
          <p:nvPr/>
        </p:nvGrpSpPr>
        <p:grpSpPr>
          <a:xfrm>
            <a:off x="9738603" y="4783653"/>
            <a:ext cx="1194955" cy="966357"/>
            <a:chOff x="332510" y="290944"/>
            <a:chExt cx="1194955" cy="966357"/>
          </a:xfrm>
        </p:grpSpPr>
        <p:sp>
          <p:nvSpPr>
            <p:cNvPr id="142" name="Retângulo 141"/>
            <p:cNvSpPr/>
            <p:nvPr/>
          </p:nvSpPr>
          <p:spPr>
            <a:xfrm>
              <a:off x="332510" y="519547"/>
              <a:ext cx="1194955" cy="73775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>
                  <a:solidFill>
                    <a:schemeClr val="tx1"/>
                  </a:solidFill>
                </a:rPr>
                <a:t>Cotação permanece aguardando estoque, até reposição do mesmo. Caso exceder o prazo, cotação torna-se </a:t>
              </a:r>
              <a:r>
                <a:rPr lang="pt-BR" sz="800" i="1" dirty="0" smtClean="0">
                  <a:solidFill>
                    <a:schemeClr val="accent1">
                      <a:lumMod val="75000"/>
                    </a:schemeClr>
                  </a:solidFill>
                </a:rPr>
                <a:t>“expirada”</a:t>
              </a:r>
            </a:p>
          </p:txBody>
        </p:sp>
        <p:sp>
          <p:nvSpPr>
            <p:cNvPr id="143" name="Retângulo 142"/>
            <p:cNvSpPr/>
            <p:nvPr/>
          </p:nvSpPr>
          <p:spPr>
            <a:xfrm>
              <a:off x="332510" y="290944"/>
              <a:ext cx="1194955" cy="228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 smtClean="0"/>
                <a:t>Ilha de Input</a:t>
              </a:r>
              <a:endParaRPr lang="pt-BR" sz="1000" b="1" dirty="0"/>
            </a:p>
          </p:txBody>
        </p:sp>
      </p:grpSp>
      <p:sp>
        <p:nvSpPr>
          <p:cNvPr id="148" name="CaixaDeTexto 147"/>
          <p:cNvSpPr txBox="1"/>
          <p:nvPr/>
        </p:nvSpPr>
        <p:spPr>
          <a:xfrm>
            <a:off x="10328576" y="4502823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Não</a:t>
            </a:r>
            <a:endParaRPr lang="pt-BR" sz="800" dirty="0"/>
          </a:p>
        </p:txBody>
      </p:sp>
      <p:sp>
        <p:nvSpPr>
          <p:cNvPr id="165" name="Texto explicativo retangular com cantos arredondados 164"/>
          <p:cNvSpPr/>
          <p:nvPr/>
        </p:nvSpPr>
        <p:spPr>
          <a:xfrm>
            <a:off x="7191763" y="2424690"/>
            <a:ext cx="538555" cy="391047"/>
          </a:xfrm>
          <a:prstGeom prst="wedgeRoundRectCallout">
            <a:avLst>
              <a:gd name="adj1" fmla="val -36872"/>
              <a:gd name="adj2" fmla="val 75145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800" i="1" dirty="0" smtClean="0">
                <a:solidFill>
                  <a:schemeClr val="accent1">
                    <a:lumMod val="75000"/>
                  </a:schemeClr>
                </a:solidFill>
              </a:rPr>
              <a:t>Análise de crédito</a:t>
            </a:r>
            <a:endParaRPr lang="pt-BR" sz="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6" name="Elipse 165"/>
          <p:cNvSpPr/>
          <p:nvPr/>
        </p:nvSpPr>
        <p:spPr>
          <a:xfrm>
            <a:off x="10221256" y="5970715"/>
            <a:ext cx="240199" cy="216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1</a:t>
            </a:r>
            <a:endParaRPr lang="pt-BR" dirty="0"/>
          </a:p>
        </p:txBody>
      </p:sp>
      <p:cxnSp>
        <p:nvCxnSpPr>
          <p:cNvPr id="169" name="Conector de seta reta 168"/>
          <p:cNvCxnSpPr>
            <a:stCxn id="167" idx="6"/>
            <a:endCxn id="5" idx="1"/>
          </p:cNvCxnSpPr>
          <p:nvPr/>
        </p:nvCxnSpPr>
        <p:spPr>
          <a:xfrm>
            <a:off x="990862" y="1788732"/>
            <a:ext cx="128927" cy="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de seta reta 171"/>
          <p:cNvCxnSpPr>
            <a:stCxn id="142" idx="2"/>
            <a:endCxn id="166" idx="0"/>
          </p:cNvCxnSpPr>
          <p:nvPr/>
        </p:nvCxnSpPr>
        <p:spPr>
          <a:xfrm>
            <a:off x="10336081" y="5750010"/>
            <a:ext cx="5275" cy="220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Elipse 173"/>
          <p:cNvSpPr/>
          <p:nvPr/>
        </p:nvSpPr>
        <p:spPr>
          <a:xfrm>
            <a:off x="7823954" y="3793828"/>
            <a:ext cx="240199" cy="216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1</a:t>
            </a:r>
            <a:endParaRPr lang="pt-BR" dirty="0"/>
          </a:p>
        </p:txBody>
      </p:sp>
      <p:cxnSp>
        <p:nvCxnSpPr>
          <p:cNvPr id="176" name="Conector de seta reta 175"/>
          <p:cNvCxnSpPr>
            <a:stCxn id="90" idx="2"/>
            <a:endCxn id="174" idx="0"/>
          </p:cNvCxnSpPr>
          <p:nvPr/>
        </p:nvCxnSpPr>
        <p:spPr>
          <a:xfrm>
            <a:off x="7944054" y="3551329"/>
            <a:ext cx="0" cy="242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de seta reta 182"/>
          <p:cNvCxnSpPr>
            <a:stCxn id="109" idx="0"/>
            <a:endCxn id="184" idx="4"/>
          </p:cNvCxnSpPr>
          <p:nvPr/>
        </p:nvCxnSpPr>
        <p:spPr>
          <a:xfrm flipH="1" flipV="1">
            <a:off x="1983023" y="2558108"/>
            <a:ext cx="1" cy="260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Elipse 183"/>
          <p:cNvSpPr/>
          <p:nvPr/>
        </p:nvSpPr>
        <p:spPr>
          <a:xfrm>
            <a:off x="1862923" y="2341931"/>
            <a:ext cx="240199" cy="216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1</a:t>
            </a:r>
            <a:endParaRPr lang="pt-BR" dirty="0"/>
          </a:p>
        </p:txBody>
      </p:sp>
      <p:sp>
        <p:nvSpPr>
          <p:cNvPr id="188" name="CaixaDeTexto 187"/>
          <p:cNvSpPr txBox="1"/>
          <p:nvPr/>
        </p:nvSpPr>
        <p:spPr>
          <a:xfrm>
            <a:off x="4957321" y="3536711"/>
            <a:ext cx="37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/>
              <a:t>Sim</a:t>
            </a:r>
            <a:endParaRPr lang="pt-BR" sz="800" dirty="0"/>
          </a:p>
        </p:txBody>
      </p:sp>
      <p:cxnSp>
        <p:nvCxnSpPr>
          <p:cNvPr id="190" name="Conector angulado 189"/>
          <p:cNvCxnSpPr>
            <a:stCxn id="102" idx="2"/>
            <a:endCxn id="116" idx="3"/>
          </p:cNvCxnSpPr>
          <p:nvPr/>
        </p:nvCxnSpPr>
        <p:spPr>
          <a:xfrm rot="5400000">
            <a:off x="3294980" y="2834910"/>
            <a:ext cx="963432" cy="23923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Estrela de 4 pontas 192"/>
          <p:cNvSpPr/>
          <p:nvPr/>
        </p:nvSpPr>
        <p:spPr>
          <a:xfrm>
            <a:off x="7531773" y="692871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0" name="Estrela de 4 pontas 199"/>
          <p:cNvSpPr/>
          <p:nvPr/>
        </p:nvSpPr>
        <p:spPr>
          <a:xfrm>
            <a:off x="11748374" y="2493530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1" name="Estrela de 4 pontas 200"/>
          <p:cNvSpPr/>
          <p:nvPr/>
        </p:nvSpPr>
        <p:spPr>
          <a:xfrm>
            <a:off x="11755777" y="1307336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2" name="Estrela de 4 pontas 201"/>
          <p:cNvSpPr/>
          <p:nvPr/>
        </p:nvSpPr>
        <p:spPr>
          <a:xfrm>
            <a:off x="4707068" y="2355561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14" name="Grupo 213"/>
          <p:cNvGrpSpPr/>
          <p:nvPr/>
        </p:nvGrpSpPr>
        <p:grpSpPr>
          <a:xfrm>
            <a:off x="953793" y="5380697"/>
            <a:ext cx="4970147" cy="931418"/>
            <a:chOff x="953793" y="5380697"/>
            <a:chExt cx="4970147" cy="931418"/>
          </a:xfrm>
        </p:grpSpPr>
        <p:sp>
          <p:nvSpPr>
            <p:cNvPr id="205" name="Retângulo 204"/>
            <p:cNvSpPr/>
            <p:nvPr/>
          </p:nvSpPr>
          <p:spPr>
            <a:xfrm>
              <a:off x="953793" y="5380697"/>
              <a:ext cx="4970147" cy="22860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100" b="1" dirty="0" smtClean="0"/>
                <a:t>Legenda</a:t>
              </a:r>
              <a:endParaRPr lang="pt-BR" sz="1100" b="1" dirty="0"/>
            </a:p>
          </p:txBody>
        </p:sp>
        <p:sp>
          <p:nvSpPr>
            <p:cNvPr id="204" name="Retângulo 203"/>
            <p:cNvSpPr/>
            <p:nvPr/>
          </p:nvSpPr>
          <p:spPr>
            <a:xfrm>
              <a:off x="953793" y="5609299"/>
              <a:ext cx="4970147" cy="7028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03" name="Estrela de 4 pontas 202"/>
          <p:cNvSpPr/>
          <p:nvPr/>
        </p:nvSpPr>
        <p:spPr>
          <a:xfrm>
            <a:off x="1168113" y="5697964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8" name="CaixaDeTexto 207"/>
          <p:cNvSpPr txBox="1"/>
          <p:nvPr/>
        </p:nvSpPr>
        <p:spPr>
          <a:xfrm>
            <a:off x="1396558" y="5617314"/>
            <a:ext cx="4696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Necessário interação do guardião com o comercial - no caso de reprovas na ilha de input, habilitação de campo para contestação (Tramita);</a:t>
            </a:r>
            <a:endParaRPr lang="pt-BR" sz="900" dirty="0"/>
          </a:p>
        </p:txBody>
      </p:sp>
      <p:sp>
        <p:nvSpPr>
          <p:cNvPr id="209" name="CaixaDeTexto 208"/>
          <p:cNvSpPr txBox="1"/>
          <p:nvPr/>
        </p:nvSpPr>
        <p:spPr>
          <a:xfrm>
            <a:off x="1396558" y="5938595"/>
            <a:ext cx="44675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P</a:t>
            </a:r>
            <a:r>
              <a:rPr lang="pt-BR" sz="900" dirty="0" smtClean="0"/>
              <a:t>assível </a:t>
            </a:r>
            <a:r>
              <a:rPr lang="pt-BR" sz="900" dirty="0"/>
              <a:t>de substatus “mais informações</a:t>
            </a:r>
            <a:r>
              <a:rPr lang="pt-BR" sz="900" dirty="0" smtClean="0"/>
              <a:t>” – necessário interação do guardião com o comercial, para inclusão de informações solicitadas por Crédito/Fraude. </a:t>
            </a:r>
            <a:endParaRPr lang="pt-BR" sz="900" dirty="0"/>
          </a:p>
          <a:p>
            <a:endParaRPr lang="pt-BR" sz="800" dirty="0"/>
          </a:p>
        </p:txBody>
      </p:sp>
      <p:sp>
        <p:nvSpPr>
          <p:cNvPr id="211" name="CaixaDeTexto 210"/>
          <p:cNvSpPr txBox="1"/>
          <p:nvPr/>
        </p:nvSpPr>
        <p:spPr>
          <a:xfrm>
            <a:off x="1021366" y="5980247"/>
            <a:ext cx="5101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***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65336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 rot="16200000">
            <a:off x="-2468407" y="3226816"/>
            <a:ext cx="5784113" cy="3845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Pedido</a:t>
            </a:r>
            <a:endParaRPr lang="pt-BR" dirty="0"/>
          </a:p>
        </p:txBody>
      </p:sp>
      <p:grpSp>
        <p:nvGrpSpPr>
          <p:cNvPr id="19" name="Grupo 18"/>
          <p:cNvGrpSpPr/>
          <p:nvPr/>
        </p:nvGrpSpPr>
        <p:grpSpPr>
          <a:xfrm>
            <a:off x="989886" y="961323"/>
            <a:ext cx="6923248" cy="3241368"/>
            <a:chOff x="989273" y="936573"/>
            <a:chExt cx="6923248" cy="3241368"/>
          </a:xfrm>
        </p:grpSpPr>
        <p:grpSp>
          <p:nvGrpSpPr>
            <p:cNvPr id="10" name="Grupo 9"/>
            <p:cNvGrpSpPr/>
            <p:nvPr/>
          </p:nvGrpSpPr>
          <p:grpSpPr>
            <a:xfrm>
              <a:off x="2383417" y="936574"/>
              <a:ext cx="1194955" cy="966357"/>
              <a:chOff x="332510" y="290944"/>
              <a:chExt cx="1194955" cy="966357"/>
            </a:xfrm>
          </p:grpSpPr>
          <p:sp>
            <p:nvSpPr>
              <p:cNvPr id="11" name="Retângulo 10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Analisa o pedido, </a:t>
                </a:r>
                <a:r>
                  <a:rPr lang="pt-BR" sz="800" dirty="0" err="1" smtClean="0">
                    <a:solidFill>
                      <a:schemeClr val="tx1"/>
                    </a:solidFill>
                  </a:rPr>
                  <a:t>check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 das informações cadastrais para geração de NF, verificação de estoque, etc.</a:t>
                </a:r>
                <a:endParaRPr lang="pt-BR" sz="800" i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Retângulo 11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Ilha de Input</a:t>
                </a:r>
                <a:endParaRPr lang="pt-BR" sz="1000" b="1" dirty="0"/>
              </a:p>
            </p:txBody>
          </p:sp>
        </p:grpSp>
        <p:grpSp>
          <p:nvGrpSpPr>
            <p:cNvPr id="13" name="Grupo 12"/>
            <p:cNvGrpSpPr/>
            <p:nvPr/>
          </p:nvGrpSpPr>
          <p:grpSpPr>
            <a:xfrm>
              <a:off x="989273" y="936574"/>
              <a:ext cx="1194955" cy="966357"/>
              <a:chOff x="332510" y="290944"/>
              <a:chExt cx="1194955" cy="966357"/>
            </a:xfrm>
          </p:grpSpPr>
          <p:sp>
            <p:nvSpPr>
              <p:cNvPr id="14" name="Retângulo 13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b="1" dirty="0" smtClean="0">
                    <a:solidFill>
                      <a:schemeClr val="tx1"/>
                    </a:solidFill>
                  </a:rPr>
                  <a:t>Cotação é concluída e gera pedido, o qual passa por análise do backoffice. Status </a:t>
                </a:r>
                <a:r>
                  <a:rPr lang="pt-BR" sz="8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“aberto”</a:t>
                </a:r>
                <a:r>
                  <a:rPr lang="pt-BR" sz="800" i="1" dirty="0" smtClean="0">
                    <a:solidFill>
                      <a:schemeClr val="tx1"/>
                    </a:solidFill>
                  </a:rPr>
                  <a:t>.</a:t>
                </a:r>
              </a:p>
            </p:txBody>
          </p:sp>
          <p:sp>
            <p:nvSpPr>
              <p:cNvPr id="15" name="Retângulo 14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Ilha de Input</a:t>
                </a:r>
                <a:endParaRPr lang="pt-BR" sz="1000" b="1" dirty="0"/>
              </a:p>
            </p:txBody>
          </p:sp>
        </p:grpSp>
        <p:sp>
          <p:nvSpPr>
            <p:cNvPr id="16" name="Fluxograma: Decisão 15"/>
            <p:cNvSpPr/>
            <p:nvPr/>
          </p:nvSpPr>
          <p:spPr>
            <a:xfrm>
              <a:off x="3777561" y="1165176"/>
              <a:ext cx="1257300" cy="737755"/>
            </a:xfrm>
            <a:prstGeom prst="flowChartDecision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Analise Backoffice aprovada?</a:t>
              </a:r>
              <a:endParaRPr lang="pt-BR" sz="800" dirty="0"/>
            </a:p>
          </p:txBody>
        </p:sp>
        <p:cxnSp>
          <p:nvCxnSpPr>
            <p:cNvPr id="21" name="Conector de seta reta 20"/>
            <p:cNvCxnSpPr/>
            <p:nvPr/>
          </p:nvCxnSpPr>
          <p:spPr>
            <a:xfrm>
              <a:off x="2184228" y="1534053"/>
              <a:ext cx="199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/>
            <p:nvPr/>
          </p:nvCxnSpPr>
          <p:spPr>
            <a:xfrm>
              <a:off x="3578372" y="1534053"/>
              <a:ext cx="199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/>
            <p:cNvCxnSpPr>
              <a:stCxn id="16" idx="3"/>
              <a:endCxn id="16" idx="3"/>
            </p:cNvCxnSpPr>
            <p:nvPr/>
          </p:nvCxnSpPr>
          <p:spPr>
            <a:xfrm>
              <a:off x="5034861" y="1534054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/>
            <p:cNvCxnSpPr>
              <a:endCxn id="18" idx="1"/>
            </p:cNvCxnSpPr>
            <p:nvPr/>
          </p:nvCxnSpPr>
          <p:spPr>
            <a:xfrm flipV="1">
              <a:off x="5034861" y="1534053"/>
              <a:ext cx="215111" cy="13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aixaDeTexto 33"/>
            <p:cNvSpPr txBox="1"/>
            <p:nvPr/>
          </p:nvSpPr>
          <p:spPr>
            <a:xfrm>
              <a:off x="4999419" y="1318608"/>
              <a:ext cx="371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smtClean="0"/>
                <a:t>Sim</a:t>
              </a:r>
              <a:endParaRPr lang="pt-BR" sz="800" dirty="0"/>
            </a:p>
          </p:txBody>
        </p:sp>
        <p:sp>
          <p:nvSpPr>
            <p:cNvPr id="18" name="Fluxograma: Decisão 17"/>
            <p:cNvSpPr/>
            <p:nvPr/>
          </p:nvSpPr>
          <p:spPr>
            <a:xfrm>
              <a:off x="5249972" y="1165175"/>
              <a:ext cx="1257300" cy="737755"/>
            </a:xfrm>
            <a:prstGeom prst="flowChartDecision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800" dirty="0" smtClean="0"/>
                <a:t>Necessita reanálise de crédito?</a:t>
              </a:r>
              <a:endParaRPr lang="pt-BR" sz="800" dirty="0"/>
            </a:p>
          </p:txBody>
        </p:sp>
        <p:cxnSp>
          <p:nvCxnSpPr>
            <p:cNvPr id="20" name="Conector reto 19"/>
            <p:cNvCxnSpPr/>
            <p:nvPr/>
          </p:nvCxnSpPr>
          <p:spPr>
            <a:xfrm flipV="1">
              <a:off x="6507272" y="1540782"/>
              <a:ext cx="215111" cy="13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upo 22"/>
            <p:cNvGrpSpPr/>
            <p:nvPr/>
          </p:nvGrpSpPr>
          <p:grpSpPr>
            <a:xfrm>
              <a:off x="6717566" y="936573"/>
              <a:ext cx="1194955" cy="966357"/>
              <a:chOff x="332510" y="290944"/>
              <a:chExt cx="1194955" cy="966357"/>
            </a:xfrm>
          </p:grpSpPr>
          <p:sp>
            <p:nvSpPr>
              <p:cNvPr id="25" name="Retângulo 24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Crédito reanalisa o pedido com status </a:t>
                </a:r>
                <a:r>
                  <a:rPr lang="pt-BR" sz="8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“reanalise de crédito” 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e aprova.</a:t>
                </a:r>
                <a:endParaRPr lang="pt-BR" sz="800" i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7" name="Retângulo 26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Crédito</a:t>
                </a:r>
                <a:endParaRPr lang="pt-BR" sz="1000" b="1" dirty="0"/>
              </a:p>
            </p:txBody>
          </p:sp>
        </p:grpSp>
        <p:sp>
          <p:nvSpPr>
            <p:cNvPr id="28" name="CaixaDeTexto 27"/>
            <p:cNvSpPr txBox="1"/>
            <p:nvPr/>
          </p:nvSpPr>
          <p:spPr>
            <a:xfrm>
              <a:off x="6442456" y="1325338"/>
              <a:ext cx="371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smtClean="0"/>
                <a:t>Sim</a:t>
              </a:r>
              <a:endParaRPr lang="pt-BR" sz="800" dirty="0"/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5281144" y="2074079"/>
              <a:ext cx="1194955" cy="966357"/>
              <a:chOff x="332510" y="290944"/>
              <a:chExt cx="1194955" cy="966357"/>
            </a:xfrm>
          </p:grpSpPr>
          <p:sp>
            <p:nvSpPr>
              <p:cNvPr id="31" name="Retângulo 30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Backoffice gera ordem de venda, pedido com status “</a:t>
                </a:r>
                <a:r>
                  <a:rPr lang="pt-BR" sz="800" i="1" dirty="0">
                    <a:solidFill>
                      <a:schemeClr val="accent1">
                        <a:lumMod val="75000"/>
                      </a:schemeClr>
                    </a:solidFill>
                  </a:rPr>
                  <a:t>backoffice aprovado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”</a:t>
                </a:r>
                <a:endParaRPr lang="pt-BR" sz="800" i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" name="Retângulo 31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Ilha de Input</a:t>
                </a:r>
                <a:endParaRPr lang="pt-BR" sz="1000" b="1" dirty="0"/>
              </a:p>
            </p:txBody>
          </p:sp>
        </p:grpSp>
        <p:cxnSp>
          <p:nvCxnSpPr>
            <p:cNvPr id="6" name="Conector de seta reta 5"/>
            <p:cNvCxnSpPr>
              <a:stCxn id="18" idx="2"/>
              <a:endCxn id="32" idx="0"/>
            </p:cNvCxnSpPr>
            <p:nvPr/>
          </p:nvCxnSpPr>
          <p:spPr>
            <a:xfrm>
              <a:off x="5878622" y="1902930"/>
              <a:ext cx="0" cy="1711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aixaDeTexto 34"/>
            <p:cNvSpPr txBox="1"/>
            <p:nvPr/>
          </p:nvSpPr>
          <p:spPr>
            <a:xfrm>
              <a:off x="5878621" y="1858634"/>
              <a:ext cx="371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smtClean="0"/>
                <a:t>Não</a:t>
              </a:r>
              <a:endParaRPr lang="pt-BR" sz="800" dirty="0"/>
            </a:p>
          </p:txBody>
        </p:sp>
        <p:cxnSp>
          <p:nvCxnSpPr>
            <p:cNvPr id="8" name="Conector angulado 7"/>
            <p:cNvCxnSpPr>
              <a:stCxn id="25" idx="2"/>
              <a:endCxn id="31" idx="3"/>
            </p:cNvCxnSpPr>
            <p:nvPr/>
          </p:nvCxnSpPr>
          <p:spPr>
            <a:xfrm rot="5400000">
              <a:off x="6511258" y="1867772"/>
              <a:ext cx="768629" cy="83894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upo 35"/>
            <p:cNvGrpSpPr/>
            <p:nvPr/>
          </p:nvGrpSpPr>
          <p:grpSpPr>
            <a:xfrm>
              <a:off x="3860185" y="2074078"/>
              <a:ext cx="1194955" cy="966357"/>
              <a:chOff x="332510" y="290944"/>
              <a:chExt cx="1194955" cy="966357"/>
            </a:xfrm>
          </p:grpSpPr>
          <p:sp>
            <p:nvSpPr>
              <p:cNvPr id="37" name="Retângulo 36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Backoffice reprova (</a:t>
                </a:r>
                <a:r>
                  <a:rPr lang="pt-BR" sz="800" i="1" dirty="0">
                    <a:solidFill>
                      <a:schemeClr val="accent1">
                        <a:lumMod val="75000"/>
                      </a:schemeClr>
                    </a:solidFill>
                  </a:rPr>
                  <a:t>backoffice reprovado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) ou cancela o pedido (</a:t>
                </a:r>
                <a:r>
                  <a:rPr lang="pt-BR" sz="800" i="1" dirty="0">
                    <a:solidFill>
                      <a:schemeClr val="accent1">
                        <a:lumMod val="75000"/>
                      </a:schemeClr>
                    </a:solidFill>
                  </a:rPr>
                  <a:t>pedido cancelado</a:t>
                </a:r>
                <a:r>
                  <a:rPr lang="pt-BR" sz="800" dirty="0" smtClean="0">
                    <a:solidFill>
                      <a:schemeClr val="tx1"/>
                    </a:solidFill>
                  </a:rPr>
                  <a:t>) para tratativa.</a:t>
                </a:r>
                <a:endParaRPr lang="pt-BR" sz="800" i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8" name="Retângulo 37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Ilha de Input</a:t>
                </a:r>
                <a:endParaRPr lang="pt-BR" sz="1000" b="1" dirty="0"/>
              </a:p>
            </p:txBody>
          </p:sp>
        </p:grpSp>
        <p:cxnSp>
          <p:nvCxnSpPr>
            <p:cNvPr id="39" name="Conector de seta reta 38"/>
            <p:cNvCxnSpPr/>
            <p:nvPr/>
          </p:nvCxnSpPr>
          <p:spPr>
            <a:xfrm>
              <a:off x="4406211" y="1902930"/>
              <a:ext cx="0" cy="1711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aixaDeTexto 39"/>
            <p:cNvSpPr txBox="1"/>
            <p:nvPr/>
          </p:nvSpPr>
          <p:spPr>
            <a:xfrm>
              <a:off x="4410400" y="1858633"/>
              <a:ext cx="37147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 smtClean="0"/>
                <a:t>Não</a:t>
              </a:r>
              <a:endParaRPr lang="pt-BR" sz="800" dirty="0"/>
            </a:p>
          </p:txBody>
        </p:sp>
        <p:cxnSp>
          <p:nvCxnSpPr>
            <p:cNvPr id="17" name="Conector angulado 16"/>
            <p:cNvCxnSpPr>
              <a:stCxn id="37" idx="1"/>
              <a:endCxn id="14" idx="2"/>
            </p:cNvCxnSpPr>
            <p:nvPr/>
          </p:nvCxnSpPr>
          <p:spPr>
            <a:xfrm rot="10800000">
              <a:off x="1586751" y="1902932"/>
              <a:ext cx="2273434" cy="76862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/>
            <p:cNvCxnSpPr/>
            <p:nvPr/>
          </p:nvCxnSpPr>
          <p:spPr>
            <a:xfrm>
              <a:off x="5878621" y="3040435"/>
              <a:ext cx="0" cy="1711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upo 41"/>
            <p:cNvGrpSpPr/>
            <p:nvPr/>
          </p:nvGrpSpPr>
          <p:grpSpPr>
            <a:xfrm>
              <a:off x="5279257" y="3211584"/>
              <a:ext cx="1194955" cy="966357"/>
              <a:chOff x="332510" y="290944"/>
              <a:chExt cx="1194955" cy="966357"/>
            </a:xfrm>
          </p:grpSpPr>
          <p:sp>
            <p:nvSpPr>
              <p:cNvPr id="43" name="Retângulo 42"/>
              <p:cNvSpPr/>
              <p:nvPr/>
            </p:nvSpPr>
            <p:spPr>
              <a:xfrm>
                <a:off x="332510" y="519547"/>
                <a:ext cx="1194955" cy="737754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dirty="0" smtClean="0">
                    <a:solidFill>
                      <a:schemeClr val="tx1"/>
                    </a:solidFill>
                  </a:rPr>
                  <a:t>Geração de nota fiscal e pistolagem do pedido para entrega; status </a:t>
                </a:r>
                <a:r>
                  <a:rPr lang="pt-BR" sz="800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“logística concluída”</a:t>
                </a:r>
                <a:r>
                  <a:rPr lang="pt-BR" sz="800" i="1" dirty="0" smtClean="0">
                    <a:solidFill>
                      <a:schemeClr val="tx1"/>
                    </a:solidFill>
                  </a:rPr>
                  <a:t>.</a:t>
                </a:r>
              </a:p>
            </p:txBody>
          </p:sp>
          <p:sp>
            <p:nvSpPr>
              <p:cNvPr id="44" name="Retângulo 43"/>
              <p:cNvSpPr/>
              <p:nvPr/>
            </p:nvSpPr>
            <p:spPr>
              <a:xfrm>
                <a:off x="332510" y="290944"/>
                <a:ext cx="1194955" cy="2286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/>
                  <a:t>Logística</a:t>
                </a:r>
                <a:endParaRPr lang="pt-BR" sz="1000" b="1" dirty="0"/>
              </a:p>
            </p:txBody>
          </p:sp>
        </p:grpSp>
      </p:grpSp>
      <p:grpSp>
        <p:nvGrpSpPr>
          <p:cNvPr id="45" name="Grupo 44"/>
          <p:cNvGrpSpPr/>
          <p:nvPr/>
        </p:nvGrpSpPr>
        <p:grpSpPr>
          <a:xfrm>
            <a:off x="989887" y="5379718"/>
            <a:ext cx="4970147" cy="931418"/>
            <a:chOff x="953793" y="5380697"/>
            <a:chExt cx="4970147" cy="931418"/>
          </a:xfrm>
        </p:grpSpPr>
        <p:sp>
          <p:nvSpPr>
            <p:cNvPr id="46" name="Retângulo 45"/>
            <p:cNvSpPr/>
            <p:nvPr/>
          </p:nvSpPr>
          <p:spPr>
            <a:xfrm>
              <a:off x="953793" y="5380697"/>
              <a:ext cx="4970147" cy="22860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100" b="1" dirty="0" smtClean="0"/>
                <a:t>Observações</a:t>
              </a:r>
              <a:endParaRPr lang="pt-BR" sz="1100" b="1" dirty="0"/>
            </a:p>
          </p:txBody>
        </p:sp>
        <p:sp>
          <p:nvSpPr>
            <p:cNvPr id="47" name="Retângulo 46"/>
            <p:cNvSpPr/>
            <p:nvPr/>
          </p:nvSpPr>
          <p:spPr>
            <a:xfrm>
              <a:off x="953793" y="5609299"/>
              <a:ext cx="4970147" cy="7028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 smtClean="0">
                  <a:solidFill>
                    <a:schemeClr val="tx1"/>
                  </a:solidFill>
                </a:rPr>
                <a:t>1- Na geração da Ordem de Venda podem ocorrer erros sistêmicos e o pedido ficar parado com status “backoffice aprovado” até que sejam feitas as correções necessárias, sendo necessário (às vezes) reprocessar o pedido;</a:t>
              </a:r>
            </a:p>
            <a:p>
              <a:pPr algn="ctr"/>
              <a:r>
                <a:rPr lang="pt-BR" sz="900" dirty="0" smtClean="0">
                  <a:solidFill>
                    <a:schemeClr val="tx1"/>
                  </a:solidFill>
                </a:rPr>
                <a:t>2- Caso ocorra algum erro no pedido após a geração de OV, necessário reinserção de cotação. </a:t>
              </a:r>
              <a:endParaRPr lang="pt-BR" sz="9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upo 47"/>
          <p:cNvGrpSpPr/>
          <p:nvPr/>
        </p:nvGrpSpPr>
        <p:grpSpPr>
          <a:xfrm>
            <a:off x="989886" y="4676903"/>
            <a:ext cx="4970147" cy="564818"/>
            <a:chOff x="953793" y="5294040"/>
            <a:chExt cx="4970147" cy="778924"/>
          </a:xfrm>
        </p:grpSpPr>
        <p:sp>
          <p:nvSpPr>
            <p:cNvPr id="49" name="Retângulo 48"/>
            <p:cNvSpPr/>
            <p:nvPr/>
          </p:nvSpPr>
          <p:spPr>
            <a:xfrm>
              <a:off x="953793" y="5294040"/>
              <a:ext cx="4970147" cy="31340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100" b="1" dirty="0" smtClean="0"/>
                <a:t>Legenda</a:t>
              </a:r>
              <a:endParaRPr lang="pt-BR" sz="1100" b="1" dirty="0"/>
            </a:p>
          </p:txBody>
        </p:sp>
        <p:sp>
          <p:nvSpPr>
            <p:cNvPr id="50" name="Retângulo 49"/>
            <p:cNvSpPr/>
            <p:nvPr/>
          </p:nvSpPr>
          <p:spPr>
            <a:xfrm>
              <a:off x="953793" y="5609300"/>
              <a:ext cx="4970147" cy="4636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1" name="CaixaDeTexto 50"/>
          <p:cNvSpPr txBox="1"/>
          <p:nvPr/>
        </p:nvSpPr>
        <p:spPr>
          <a:xfrm>
            <a:off x="1318786" y="4945336"/>
            <a:ext cx="46965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Necessário interação do guardião com o comercial.</a:t>
            </a:r>
            <a:endParaRPr lang="pt-BR" sz="900" dirty="0"/>
          </a:p>
        </p:txBody>
      </p:sp>
      <p:sp>
        <p:nvSpPr>
          <p:cNvPr id="52" name="Estrela de 4 pontas 51"/>
          <p:cNvSpPr/>
          <p:nvPr/>
        </p:nvSpPr>
        <p:spPr>
          <a:xfrm>
            <a:off x="1122046" y="4970267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strela de 4 pontas 52"/>
          <p:cNvSpPr/>
          <p:nvPr/>
        </p:nvSpPr>
        <p:spPr>
          <a:xfrm>
            <a:off x="4993687" y="1999840"/>
            <a:ext cx="141466" cy="180970"/>
          </a:xfrm>
          <a:prstGeom prst="star4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17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3556</TotalTime>
  <Words>774</Words>
  <Application>Microsoft Office PowerPoint</Application>
  <PresentationFormat>Widescreen</PresentationFormat>
  <Paragraphs>133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>VIVO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Katia Caroline Kubota Fonseca</dc:creator>
  <cp:lastModifiedBy>Dell</cp:lastModifiedBy>
  <cp:revision>51</cp:revision>
  <dcterms:created xsi:type="dcterms:W3CDTF">2017-01-04T21:05:56Z</dcterms:created>
  <dcterms:modified xsi:type="dcterms:W3CDTF">2017-05-19T13:18:04Z</dcterms:modified>
</cp:coreProperties>
</file>